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1110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10" dirty="0"/>
              <a:t> </a:t>
            </a:r>
            <a:r>
              <a:rPr dirty="0"/>
              <a:t>31,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10" dirty="0"/>
              <a:t> </a:t>
            </a:r>
            <a:r>
              <a:rPr dirty="0"/>
              <a:t>31,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10" dirty="0"/>
              <a:t> </a:t>
            </a:r>
            <a:r>
              <a:rPr dirty="0"/>
              <a:t>31,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10" dirty="0"/>
              <a:t> </a:t>
            </a:r>
            <a:r>
              <a:rPr dirty="0"/>
              <a:t>31,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10" dirty="0"/>
              <a:t> </a:t>
            </a:r>
            <a:r>
              <a:rPr dirty="0"/>
              <a:t>31,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192023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093075"/>
            <a:ext cx="3989704" cy="1203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63544" y="3351784"/>
            <a:ext cx="6051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January</a:t>
            </a:r>
            <a:r>
              <a:rPr spc="-10" dirty="0"/>
              <a:t> </a:t>
            </a:r>
            <a:r>
              <a:rPr dirty="0"/>
              <a:t>31,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4368" y="3351784"/>
            <a:ext cx="1987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50" dirty="0"/>
              <a:t>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836751"/>
            <a:ext cx="4483735" cy="721995"/>
            <a:chOff x="87743" y="836751"/>
            <a:chExt cx="4483735" cy="721995"/>
          </a:xfrm>
        </p:grpSpPr>
        <p:sp>
          <p:nvSpPr>
            <p:cNvPr id="3" name="object 3"/>
            <p:cNvSpPr/>
            <p:nvPr/>
          </p:nvSpPr>
          <p:spPr>
            <a:xfrm>
              <a:off x="87743" y="836751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900015"/>
              <a:ext cx="4432935" cy="658495"/>
            </a:xfrm>
            <a:custGeom>
              <a:avLst/>
              <a:gdLst/>
              <a:ahLst/>
              <a:cxnLst/>
              <a:rect l="l" t="t" r="r" b="b"/>
              <a:pathLst>
                <a:path w="4432935" h="658494">
                  <a:moveTo>
                    <a:pt x="4432566" y="0"/>
                  </a:moveTo>
                  <a:lnTo>
                    <a:pt x="0" y="0"/>
                  </a:lnTo>
                  <a:lnTo>
                    <a:pt x="0" y="658415"/>
                  </a:lnTo>
                  <a:lnTo>
                    <a:pt x="4432566" y="65841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81178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47650" y="1009900"/>
            <a:ext cx="4432935" cy="262636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014220" marR="194945" indent="-1911985">
              <a:lnSpc>
                <a:spcPct val="106700"/>
              </a:lnSpc>
              <a:spcBef>
                <a:spcPts val="330"/>
              </a:spcBef>
            </a:pPr>
            <a:r>
              <a:rPr spc="95" dirty="0"/>
              <a:t>CMOS</a:t>
            </a:r>
            <a:r>
              <a:rPr spc="215" dirty="0"/>
              <a:t> </a:t>
            </a:r>
            <a:r>
              <a:rPr dirty="0"/>
              <a:t>Ring</a:t>
            </a:r>
            <a:r>
              <a:rPr spc="215" dirty="0"/>
              <a:t> </a:t>
            </a:r>
            <a:r>
              <a:rPr dirty="0"/>
              <a:t>Oscillator</a:t>
            </a:r>
            <a:r>
              <a:rPr spc="220" dirty="0"/>
              <a:t> </a:t>
            </a:r>
            <a:r>
              <a:rPr dirty="0"/>
              <a:t>for</a:t>
            </a:r>
            <a:r>
              <a:rPr spc="215" dirty="0"/>
              <a:t> </a:t>
            </a:r>
            <a:r>
              <a:rPr dirty="0"/>
              <a:t>On-Chip</a:t>
            </a:r>
            <a:r>
              <a:rPr spc="220" dirty="0"/>
              <a:t> </a:t>
            </a:r>
            <a:r>
              <a:rPr dirty="0"/>
              <a:t>Clock</a:t>
            </a:r>
            <a:r>
              <a:rPr spc="215" dirty="0"/>
              <a:t> </a:t>
            </a:r>
            <a:r>
              <a:rPr spc="-10" dirty="0"/>
              <a:t>Generation</a:t>
            </a:r>
            <a:endParaRPr spc="45" dirty="0"/>
          </a:p>
        </p:txBody>
      </p:sp>
      <p:sp>
        <p:nvSpPr>
          <p:cNvPr id="7" name="object 7"/>
          <p:cNvSpPr txBox="1"/>
          <p:nvPr/>
        </p:nvSpPr>
        <p:spPr>
          <a:xfrm>
            <a:off x="2762250" y="2260438"/>
            <a:ext cx="1250315" cy="7271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spc="-40" dirty="0">
                <a:latin typeface="Tahoma"/>
                <a:cs typeface="Tahoma"/>
              </a:rPr>
              <a:t>2310040040-Rahul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spc="-40" dirty="0">
                <a:latin typeface="Tahoma"/>
                <a:cs typeface="Tahoma"/>
              </a:rPr>
              <a:t>2310040042-Harsha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dirty="0">
                <a:latin typeface="Tahoma"/>
                <a:cs typeface="Tahoma"/>
              </a:rPr>
              <a:t>2310040050-Bharat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dirty="0">
                <a:latin typeface="Tahoma"/>
                <a:cs typeface="Tahoma"/>
              </a:rPr>
              <a:t>2310049145-Raghu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150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7652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46050">
              <a:lnSpc>
                <a:spcPct val="102699"/>
              </a:lnSpc>
              <a:spcBef>
                <a:spcPts val="55"/>
              </a:spcBef>
            </a:pPr>
            <a:r>
              <a:rPr spc="-10" dirty="0"/>
              <a:t>Modern</a:t>
            </a:r>
            <a:r>
              <a:rPr spc="-70" dirty="0"/>
              <a:t> </a:t>
            </a:r>
            <a:r>
              <a:rPr spc="-10" dirty="0"/>
              <a:t>SoCs</a:t>
            </a:r>
            <a:r>
              <a:rPr spc="-50" dirty="0"/>
              <a:t> </a:t>
            </a:r>
            <a:r>
              <a:rPr spc="-40" dirty="0"/>
              <a:t>require</a:t>
            </a:r>
            <a:r>
              <a:rPr spc="-45" dirty="0"/>
              <a:t> </a:t>
            </a:r>
            <a:r>
              <a:rPr spc="-35" dirty="0"/>
              <a:t>reliable</a:t>
            </a:r>
            <a:r>
              <a:rPr spc="-45" dirty="0"/>
              <a:t> </a:t>
            </a:r>
            <a:r>
              <a:rPr spc="-50" dirty="0"/>
              <a:t>on-</a:t>
            </a:r>
            <a:r>
              <a:rPr spc="-20" dirty="0"/>
              <a:t>chip</a:t>
            </a:r>
            <a:r>
              <a:rPr spc="-45" dirty="0"/>
              <a:t> </a:t>
            </a:r>
            <a:r>
              <a:rPr dirty="0"/>
              <a:t>clock</a:t>
            </a:r>
            <a:r>
              <a:rPr spc="-45" dirty="0"/>
              <a:t> </a:t>
            </a:r>
            <a:r>
              <a:rPr spc="-60" dirty="0"/>
              <a:t>sources</a:t>
            </a:r>
            <a:r>
              <a:rPr spc="-25" dirty="0"/>
              <a:t> </a:t>
            </a:r>
            <a:r>
              <a:rPr spc="-20" dirty="0"/>
              <a:t>for</a:t>
            </a:r>
            <a:r>
              <a:rPr spc="-45" dirty="0"/>
              <a:t> </a:t>
            </a:r>
            <a:r>
              <a:rPr spc="-10" dirty="0"/>
              <a:t>timing</a:t>
            </a:r>
            <a:r>
              <a:rPr spc="-45" dirty="0"/>
              <a:t> </a:t>
            </a:r>
            <a:r>
              <a:rPr spc="-25" dirty="0"/>
              <a:t>and </a:t>
            </a:r>
            <a:r>
              <a:rPr spc="-10" dirty="0"/>
              <a:t>synchronization.</a:t>
            </a:r>
          </a:p>
          <a:p>
            <a:pPr marL="12700" marR="285750">
              <a:lnSpc>
                <a:spcPct val="125299"/>
              </a:lnSpc>
            </a:pPr>
            <a:r>
              <a:rPr spc="-20" dirty="0"/>
              <a:t>External</a:t>
            </a:r>
            <a:r>
              <a:rPr spc="-35" dirty="0"/>
              <a:t> </a:t>
            </a:r>
            <a:r>
              <a:rPr spc="-20" dirty="0"/>
              <a:t>crystal</a:t>
            </a:r>
            <a:r>
              <a:rPr spc="-35" dirty="0"/>
              <a:t> </a:t>
            </a:r>
            <a:r>
              <a:rPr spc="-30" dirty="0"/>
              <a:t>oscillators</a:t>
            </a:r>
            <a:r>
              <a:rPr spc="-35" dirty="0"/>
              <a:t> </a:t>
            </a:r>
            <a:r>
              <a:rPr spc="-45" dirty="0"/>
              <a:t>increase</a:t>
            </a:r>
            <a:r>
              <a:rPr spc="-35" dirty="0"/>
              <a:t> </a:t>
            </a:r>
            <a:r>
              <a:rPr spc="-40" dirty="0"/>
              <a:t>system</a:t>
            </a:r>
            <a:r>
              <a:rPr spc="-30" dirty="0"/>
              <a:t> </a:t>
            </a:r>
            <a:r>
              <a:rPr spc="-10" dirty="0"/>
              <a:t>cost</a:t>
            </a:r>
            <a:r>
              <a:rPr spc="-35" dirty="0"/>
              <a:t> and</a:t>
            </a:r>
            <a:r>
              <a:rPr spc="-30" dirty="0"/>
              <a:t> </a:t>
            </a:r>
            <a:r>
              <a:rPr spc="-45" dirty="0"/>
              <a:t>board</a:t>
            </a:r>
            <a:r>
              <a:rPr spc="-35" dirty="0"/>
              <a:t> </a:t>
            </a:r>
            <a:r>
              <a:rPr spc="-50" dirty="0"/>
              <a:t>area. </a:t>
            </a:r>
            <a:r>
              <a:rPr spc="-45" dirty="0"/>
              <a:t>Fixed-</a:t>
            </a:r>
            <a:r>
              <a:rPr spc="-40" dirty="0"/>
              <a:t>frequency</a:t>
            </a:r>
            <a:r>
              <a:rPr spc="-35" dirty="0"/>
              <a:t> </a:t>
            </a:r>
            <a:r>
              <a:rPr spc="-20" dirty="0"/>
              <a:t>ring</a:t>
            </a:r>
            <a:r>
              <a:rPr spc="-35" dirty="0"/>
              <a:t> </a:t>
            </a:r>
            <a:r>
              <a:rPr spc="-30" dirty="0"/>
              <a:t>oscillators </a:t>
            </a:r>
            <a:r>
              <a:rPr dirty="0"/>
              <a:t>lack</a:t>
            </a:r>
            <a:r>
              <a:rPr spc="-35" dirty="0"/>
              <a:t> </a:t>
            </a:r>
            <a:r>
              <a:rPr spc="-10" dirty="0"/>
              <a:t>flexibility.</a:t>
            </a:r>
          </a:p>
          <a:p>
            <a:pPr marL="12700" marR="5080">
              <a:lnSpc>
                <a:spcPct val="125299"/>
              </a:lnSpc>
            </a:pPr>
            <a:r>
              <a:rPr spc="-20" dirty="0"/>
              <a:t>There</a:t>
            </a:r>
            <a:r>
              <a:rPr spc="-5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60" dirty="0"/>
              <a:t>need</a:t>
            </a:r>
            <a:r>
              <a:rPr spc="-25" dirty="0"/>
              <a:t> </a:t>
            </a:r>
            <a:r>
              <a:rPr spc="-20" dirty="0"/>
              <a:t>for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35" dirty="0"/>
              <a:t>CMOS-</a:t>
            </a:r>
            <a:r>
              <a:rPr spc="-10" dirty="0"/>
              <a:t>based,</a:t>
            </a:r>
            <a:r>
              <a:rPr spc="-40" dirty="0"/>
              <a:t> </a:t>
            </a:r>
            <a:r>
              <a:rPr spc="-30" dirty="0"/>
              <a:t>tunable</a:t>
            </a:r>
            <a:r>
              <a:rPr spc="-35" dirty="0"/>
              <a:t> </a:t>
            </a:r>
            <a:r>
              <a:rPr spc="-50" dirty="0"/>
              <a:t>on-</a:t>
            </a:r>
            <a:r>
              <a:rPr spc="-20" dirty="0"/>
              <a:t>chip</a:t>
            </a:r>
            <a:r>
              <a:rPr spc="-40" dirty="0"/>
              <a:t> </a:t>
            </a:r>
            <a:r>
              <a:rPr dirty="0"/>
              <a:t>clock</a:t>
            </a:r>
            <a:r>
              <a:rPr spc="-40" dirty="0"/>
              <a:t> </a:t>
            </a:r>
            <a:r>
              <a:rPr spc="-55" dirty="0"/>
              <a:t>generator. </a:t>
            </a:r>
            <a:r>
              <a:rPr spc="55" dirty="0"/>
              <a:t>A</a:t>
            </a:r>
            <a:r>
              <a:rPr spc="-30" dirty="0"/>
              <a:t> </a:t>
            </a:r>
            <a:r>
              <a:rPr spc="-20" dirty="0"/>
              <a:t>ring</a:t>
            </a:r>
            <a:r>
              <a:rPr spc="-30" dirty="0"/>
              <a:t> </a:t>
            </a:r>
            <a:r>
              <a:rPr spc="-25" dirty="0"/>
              <a:t>oscillator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30" dirty="0"/>
              <a:t>capacitor bank </a:t>
            </a:r>
            <a:r>
              <a:rPr spc="-50" dirty="0"/>
              <a:t>provides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20" dirty="0"/>
              <a:t>practical</a:t>
            </a:r>
            <a:r>
              <a:rPr spc="-25" dirty="0"/>
              <a:t> </a:t>
            </a:r>
            <a:r>
              <a:rPr spc="-10" dirty="0"/>
              <a:t>solution.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5863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6866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78698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88730"/>
            <a:ext cx="65265" cy="6526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2023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dirty="0"/>
              <a:t>Key Insights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55" y="94487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00050" y="627564"/>
            <a:ext cx="3989704" cy="1046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/>
              <a:t>CMOS</a:t>
            </a:r>
            <a:r>
              <a:rPr spc="-20" dirty="0"/>
              <a:t> ring</a:t>
            </a:r>
            <a:r>
              <a:rPr spc="-15" dirty="0"/>
              <a:t> </a:t>
            </a:r>
            <a:r>
              <a:rPr spc="-30" dirty="0"/>
              <a:t>oscillators</a:t>
            </a:r>
            <a:r>
              <a:rPr spc="-25" dirty="0"/>
              <a:t> </a:t>
            </a:r>
            <a:r>
              <a:rPr spc="-60" dirty="0"/>
              <a:t>are</a:t>
            </a:r>
            <a:r>
              <a:rPr spc="-15" dirty="0"/>
              <a:t> </a:t>
            </a:r>
            <a:r>
              <a:rPr spc="-30" dirty="0"/>
              <a:t>widely</a:t>
            </a:r>
            <a:r>
              <a:rPr spc="-20" dirty="0"/>
              <a:t> </a:t>
            </a:r>
            <a:r>
              <a:rPr spc="-60" dirty="0"/>
              <a:t>used</a:t>
            </a:r>
            <a:r>
              <a:rPr spc="-20" dirty="0"/>
              <a:t> for</a:t>
            </a:r>
            <a:r>
              <a:rPr spc="-15" dirty="0"/>
              <a:t> </a:t>
            </a:r>
            <a:r>
              <a:rPr spc="-50" dirty="0"/>
              <a:t>on-</a:t>
            </a:r>
            <a:r>
              <a:rPr spc="-20" dirty="0"/>
              <a:t>chip </a:t>
            </a:r>
            <a:r>
              <a:rPr dirty="0"/>
              <a:t>clock</a:t>
            </a:r>
            <a:r>
              <a:rPr spc="-15" dirty="0"/>
              <a:t> </a:t>
            </a:r>
            <a:r>
              <a:rPr spc="-40" dirty="0"/>
              <a:t>generation. </a:t>
            </a:r>
            <a:r>
              <a:rPr spc="-10" dirty="0"/>
              <a:t>Oscillation</a:t>
            </a:r>
            <a:r>
              <a:rPr spc="-45" dirty="0"/>
              <a:t> </a:t>
            </a:r>
            <a:r>
              <a:rPr spc="-50" dirty="0"/>
              <a:t>frequency</a:t>
            </a:r>
            <a:r>
              <a:rPr spc="-35" dirty="0"/>
              <a:t> </a:t>
            </a:r>
            <a:r>
              <a:rPr spc="-65" dirty="0"/>
              <a:t>depends</a:t>
            </a:r>
            <a:r>
              <a:rPr spc="-20" dirty="0"/>
              <a:t> </a:t>
            </a:r>
            <a:r>
              <a:rPr spc="-10" dirty="0"/>
              <a:t>on</a:t>
            </a:r>
            <a:r>
              <a:rPr spc="-35" dirty="0"/>
              <a:t> </a:t>
            </a:r>
            <a:r>
              <a:rPr spc="-30" dirty="0"/>
              <a:t>inverter</a:t>
            </a:r>
            <a:r>
              <a:rPr spc="-35" dirty="0"/>
              <a:t> </a:t>
            </a:r>
            <a:r>
              <a:rPr spc="-45" dirty="0"/>
              <a:t>delay</a:t>
            </a:r>
            <a:r>
              <a:rPr spc="-35" dirty="0"/>
              <a:t> and </a:t>
            </a:r>
            <a:r>
              <a:rPr spc="-40" dirty="0"/>
              <a:t>stage</a:t>
            </a:r>
            <a:r>
              <a:rPr spc="-35" dirty="0"/>
              <a:t> </a:t>
            </a:r>
            <a:r>
              <a:rPr spc="-10" dirty="0"/>
              <a:t>count.</a:t>
            </a:r>
          </a:p>
          <a:p>
            <a:pPr marL="12700" marR="174625">
              <a:lnSpc>
                <a:spcPct val="125299"/>
              </a:lnSpc>
            </a:pPr>
            <a:r>
              <a:rPr spc="-10" dirty="0"/>
              <a:t>Load</a:t>
            </a:r>
            <a:r>
              <a:rPr spc="-25" dirty="0"/>
              <a:t> </a:t>
            </a:r>
            <a:r>
              <a:rPr spc="-35" dirty="0"/>
              <a:t>capacitance</a:t>
            </a:r>
            <a:r>
              <a:rPr spc="-20" dirty="0"/>
              <a:t> </a:t>
            </a:r>
            <a:r>
              <a:rPr spc="-25" dirty="0"/>
              <a:t>significantly</a:t>
            </a:r>
            <a:r>
              <a:rPr spc="-30" dirty="0"/>
              <a:t> </a:t>
            </a:r>
            <a:r>
              <a:rPr spc="-35" dirty="0"/>
              <a:t>affects</a:t>
            </a:r>
            <a:r>
              <a:rPr spc="-25" dirty="0"/>
              <a:t> </a:t>
            </a:r>
            <a:r>
              <a:rPr spc="-10" dirty="0"/>
              <a:t>the</a:t>
            </a:r>
            <a:r>
              <a:rPr spc="-25" dirty="0"/>
              <a:t> oscillation</a:t>
            </a:r>
            <a:r>
              <a:rPr spc="-20" dirty="0"/>
              <a:t> </a:t>
            </a:r>
            <a:r>
              <a:rPr spc="-10" dirty="0"/>
              <a:t>frequency. Ring</a:t>
            </a:r>
            <a:r>
              <a:rPr spc="-25" dirty="0"/>
              <a:t> </a:t>
            </a:r>
            <a:r>
              <a:rPr spc="-30" dirty="0"/>
              <a:t>oscillators</a:t>
            </a:r>
            <a:r>
              <a:rPr spc="-20" dirty="0"/>
              <a:t> </a:t>
            </a:r>
            <a:r>
              <a:rPr spc="-60" dirty="0"/>
              <a:t>are</a:t>
            </a:r>
            <a:r>
              <a:rPr spc="-15" dirty="0"/>
              <a:t> </a:t>
            </a:r>
            <a:r>
              <a:rPr spc="-60" dirty="0"/>
              <a:t>used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SoCs,</a:t>
            </a:r>
            <a:r>
              <a:rPr spc="-15" dirty="0"/>
              <a:t> </a:t>
            </a:r>
            <a:r>
              <a:rPr dirty="0"/>
              <a:t>BIST,</a:t>
            </a:r>
            <a:r>
              <a:rPr spc="-15" dirty="0"/>
              <a:t> </a:t>
            </a:r>
            <a:r>
              <a:rPr spc="-35" dirty="0"/>
              <a:t>and</a:t>
            </a:r>
            <a:r>
              <a:rPr spc="-20" dirty="0"/>
              <a:t> </a:t>
            </a:r>
            <a:r>
              <a:rPr spc="50" dirty="0"/>
              <a:t>PLL/VCO</a:t>
            </a:r>
            <a:r>
              <a:rPr spc="-20" dirty="0"/>
              <a:t> </a:t>
            </a:r>
            <a:r>
              <a:rPr spc="-50" dirty="0"/>
              <a:t>systems. </a:t>
            </a:r>
            <a:r>
              <a:rPr spc="-20" dirty="0"/>
              <a:t>Capacitor</a:t>
            </a:r>
            <a:r>
              <a:rPr spc="-30" dirty="0"/>
              <a:t> </a:t>
            </a:r>
            <a:r>
              <a:rPr spc="-45" dirty="0"/>
              <a:t>banks</a:t>
            </a:r>
            <a:r>
              <a:rPr spc="-25" dirty="0"/>
              <a:t> </a:t>
            </a:r>
            <a:r>
              <a:rPr spc="-50" dirty="0"/>
              <a:t>enable</a:t>
            </a:r>
            <a:r>
              <a:rPr spc="-30" dirty="0"/>
              <a:t> </a:t>
            </a:r>
            <a:r>
              <a:rPr spc="-50" dirty="0"/>
              <a:t>frequency</a:t>
            </a:r>
            <a:r>
              <a:rPr spc="-30" dirty="0"/>
              <a:t> </a:t>
            </a:r>
            <a:r>
              <a:rPr spc="-20" dirty="0"/>
              <a:t>tuning</a:t>
            </a:r>
            <a:r>
              <a:rPr lang="en-IN" spc="-20" dirty="0"/>
              <a:t>.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454" y="117247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456" y="71995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8987" y="1360593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8986" y="1592375"/>
            <a:ext cx="65265" cy="6526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410DF-9A4E-23E6-287B-84809192E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76309"/>
            <a:ext cx="4608017" cy="124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Reference</a:t>
            </a:r>
            <a:r>
              <a:rPr spc="120" dirty="0"/>
              <a:t> </a:t>
            </a:r>
            <a:r>
              <a:rPr dirty="0"/>
              <a:t>Papers</a:t>
            </a:r>
            <a:r>
              <a:rPr spc="125" dirty="0"/>
              <a:t> </a:t>
            </a:r>
            <a:r>
              <a:rPr spc="-10" dirty="0"/>
              <a:t>Studied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131" y="815975"/>
            <a:ext cx="4181754" cy="18870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b="1" dirty="0">
                <a:latin typeface="Tahoma"/>
                <a:cs typeface="Tahoma"/>
              </a:rPr>
              <a:t>B. Razavi</a:t>
            </a:r>
            <a:endParaRPr lang="en-IN"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dirty="0">
                <a:latin typeface="Tahoma"/>
                <a:cs typeface="Tahoma"/>
              </a:rPr>
              <a:t> CMOS VLSI Design: A Circuits and Systems Perspective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dirty="0">
                <a:latin typeface="Tahoma"/>
                <a:cs typeface="Tahoma"/>
              </a:rPr>
              <a:t>Studied CMOS inverter operation, propagation delay, and basic ring oscillator principles used for on-chip clock generation.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endParaRPr lang="en-IN"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b="1" dirty="0">
                <a:latin typeface="Tahoma"/>
                <a:cs typeface="Tahoma"/>
              </a:rPr>
              <a:t>J. M. </a:t>
            </a:r>
            <a:r>
              <a:rPr lang="en-IN" sz="1100" b="1" dirty="0" err="1">
                <a:latin typeface="Tahoma"/>
                <a:cs typeface="Tahoma"/>
              </a:rPr>
              <a:t>Rabaey</a:t>
            </a:r>
            <a:r>
              <a:rPr lang="en-IN" sz="1100" dirty="0">
                <a:latin typeface="Tahoma"/>
                <a:cs typeface="Tahoma"/>
              </a:rPr>
              <a:t>, </a:t>
            </a:r>
            <a:r>
              <a:rPr lang="en-IN" sz="1100" b="1" dirty="0">
                <a:latin typeface="Tahoma"/>
                <a:cs typeface="Tahoma"/>
              </a:rPr>
              <a:t>A. Chandrakasan, B. Nikolic</a:t>
            </a:r>
            <a:endParaRPr lang="en-IN"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dirty="0">
                <a:latin typeface="Tahoma"/>
                <a:cs typeface="Tahoma"/>
              </a:rPr>
              <a:t> Digital Integrated Circuits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dirty="0">
                <a:latin typeface="Tahoma"/>
                <a:cs typeface="Tahoma"/>
              </a:rPr>
              <a:t>Referred for timing analysis, delay </a:t>
            </a:r>
            <a:r>
              <a:rPr lang="en-IN" sz="1100" dirty="0" err="1">
                <a:latin typeface="Tahoma"/>
                <a:cs typeface="Tahoma"/>
              </a:rPr>
              <a:t>modeling</a:t>
            </a:r>
            <a:r>
              <a:rPr lang="en-IN" sz="1100" dirty="0">
                <a:latin typeface="Tahoma"/>
                <a:cs typeface="Tahoma"/>
              </a:rPr>
              <a:t>, and the impact of load capacitance on switching speed and clock frequency.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6265-B996-26CA-E9BD-CDC322EF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F04931-4000-A073-DF5B-D040187FF8B2}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7A7CF9B0-9982-F5B6-1970-607E99A0E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2023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dirty="0"/>
              <a:t>Future Implementation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B927C0-52F0-D4D9-2BCF-2DE08049F8D5}"/>
              </a:ext>
            </a:extLst>
          </p:cNvPr>
          <p:cNvSpPr txBox="1"/>
          <p:nvPr/>
        </p:nvSpPr>
        <p:spPr>
          <a:xfrm>
            <a:off x="95250" y="968375"/>
            <a:ext cx="4321517" cy="11483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/>
              <a:t>   Implement the complete transistor-level schematic of the CMOS        ring oscillator.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/>
              <a:t>Integrate and verify the capacitor bank block for frequency tuning.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1100" dirty="0"/>
              <a:t>Analyze frequency variation for different capacitor combinations.</a:t>
            </a: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AB0F8E40-6BF0-A28E-857E-3E7E570EDB16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F153820-53C2-0BA7-4B90-70B0B3883A9B}"/>
                </a:ext>
              </a:extLst>
            </p:cNvPr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50CE4F3-C050-0D24-04C8-68DDF27CED51}"/>
                </a:ext>
              </a:extLst>
            </p:cNvPr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97E2319-038C-E2B4-C3C0-4A50867FD049}"/>
                </a:ext>
              </a:extLst>
            </p:cNvPr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24627860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226</Words>
  <Application>Microsoft Office PowerPoint</Application>
  <PresentationFormat>Custom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Tahoma</vt:lpstr>
      <vt:lpstr>Times New Roman</vt:lpstr>
      <vt:lpstr>Office Theme</vt:lpstr>
      <vt:lpstr>CMOS Ring Oscillator for On-Chip Clock Generation</vt:lpstr>
      <vt:lpstr>Problem Statement</vt:lpstr>
      <vt:lpstr>Key Insights</vt:lpstr>
      <vt:lpstr>Reference Papers Studied</vt:lpstr>
      <vt:lpstr>Future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Ring Oscillator for On-Chip Clock Generation in SoC</dc:title>
  <cp:lastModifiedBy>harshavardhanreddy1009@gmail.com</cp:lastModifiedBy>
  <cp:revision>4</cp:revision>
  <dcterms:created xsi:type="dcterms:W3CDTF">2026-01-31T03:11:50Z</dcterms:created>
  <dcterms:modified xsi:type="dcterms:W3CDTF">2026-01-31T05:11:36Z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2026-01-31T00:00:00Z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